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50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14998596" r:id="rId3"/>
    <p:sldId id="9575" r:id="rId4"/>
    <p:sldId id="9576" r:id="rId5"/>
    <p:sldId id="2146849062" r:id="rId6"/>
    <p:sldId id="2146849063" r:id="rId7"/>
    <p:sldId id="2146849064" r:id="rId8"/>
    <p:sldId id="2146849065" r:id="rId9"/>
    <p:sldId id="2146849066" r:id="rId10"/>
    <p:sldId id="2146849067" r:id="rId11"/>
    <p:sldId id="2146849068" r:id="rId12"/>
    <p:sldId id="2146849069" r:id="rId13"/>
    <p:sldId id="2146849070" r:id="rId14"/>
    <p:sldId id="2146849071" r:id="rId15"/>
    <p:sldId id="2146849072" r:id="rId16"/>
    <p:sldId id="2146849073" r:id="rId17"/>
  </p:sldIdLst>
  <p:sldSz cx="12192000" cy="6858000"/>
  <p:notesSz cx="6761163" cy="9882188"/>
  <p:custDataLst>
    <p:tags r:id="rId2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7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pos="74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n Jibin" initials="SJ" lastIdx="1" clrIdx="0">
    <p:extLst>
      <p:ext uri="{19B8F6BF-5375-455C-9EA6-DF929625EA0E}">
        <p15:presenceInfo xmlns:p15="http://schemas.microsoft.com/office/powerpoint/2012/main" userId="0cf89b89ae50d21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2F0D9"/>
    <a:srgbClr val="CCD7F2"/>
    <a:srgbClr val="A9D18E"/>
    <a:srgbClr val="DEEBF7"/>
    <a:srgbClr val="FFF2CC"/>
    <a:srgbClr val="F2F2F2"/>
    <a:srgbClr val="002060"/>
    <a:srgbClr val="000C1F"/>
    <a:srgbClr val="003E9B"/>
    <a:srgbClr val="F2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92A739-73A0-D14D-ACA6-E6A18DAC5BBC}" v="42" dt="2026-01-25T07:16:06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37" autoAdjust="0"/>
    <p:restoredTop sz="86393" autoAdjust="0"/>
  </p:normalViewPr>
  <p:slideViewPr>
    <p:cSldViewPr>
      <p:cViewPr varScale="1">
        <p:scale>
          <a:sx n="91" d="100"/>
          <a:sy n="91" d="100"/>
        </p:scale>
        <p:origin x="1640" y="192"/>
      </p:cViewPr>
      <p:guideLst>
        <p:guide orient="horz" pos="2357"/>
        <p:guide pos="3840"/>
        <p:guide pos="211"/>
        <p:guide pos="74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341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tao mao" userId="7196763ca46e23da" providerId="LiveId" clId="{B992A739-73A0-D14D-ACA6-E6A18DAC5BBC}"/>
    <pc:docChg chg="modSld">
      <pc:chgData name="zhitao mao" userId="7196763ca46e23da" providerId="LiveId" clId="{B992A739-73A0-D14D-ACA6-E6A18DAC5BBC}" dt="2026-01-26T05:20:22.207" v="9" actId="58"/>
      <pc:docMkLst>
        <pc:docMk/>
      </pc:docMkLst>
      <pc:sldChg chg="modSp mod">
        <pc:chgData name="zhitao mao" userId="7196763ca46e23da" providerId="LiveId" clId="{B992A739-73A0-D14D-ACA6-E6A18DAC5BBC}" dt="2026-01-26T05:20:22.207" v="9" actId="58"/>
        <pc:sldMkLst>
          <pc:docMk/>
          <pc:sldMk cId="3937917711" sldId="14998596"/>
        </pc:sldMkLst>
        <pc:spChg chg="mod">
          <ac:chgData name="zhitao mao" userId="7196763ca46e23da" providerId="LiveId" clId="{B992A739-73A0-D14D-ACA6-E6A18DAC5BBC}" dt="2026-01-26T05:20:22.207" v="9" actId="58"/>
          <ac:spMkLst>
            <pc:docMk/>
            <pc:sldMk cId="3937917711" sldId="14998596"/>
            <ac:spMk id="6" creationId="{00000000-0000-0000-0000-000000000000}"/>
          </ac:spMkLst>
        </pc:spChg>
        <pc:spChg chg="mod">
          <ac:chgData name="zhitao mao" userId="7196763ca46e23da" providerId="LiveId" clId="{B992A739-73A0-D14D-ACA6-E6A18DAC5BBC}" dt="2026-01-26T05:14:19.734" v="0" actId="20577"/>
          <ac:spMkLst>
            <pc:docMk/>
            <pc:sldMk cId="3937917711" sldId="14998596"/>
            <ac:spMk id="7" creationId="{00000000-0000-0000-0000-000000000000}"/>
          </ac:spMkLst>
        </pc:spChg>
      </pc:sldChg>
      <pc:sldChg chg="modSp mod">
        <pc:chgData name="zhitao mao" userId="7196763ca46e23da" providerId="LiveId" clId="{B992A739-73A0-D14D-ACA6-E6A18DAC5BBC}" dt="2026-01-26T05:19:24.356" v="7"/>
        <pc:sldMkLst>
          <pc:docMk/>
          <pc:sldMk cId="2892995052" sldId="2146849068"/>
        </pc:sldMkLst>
        <pc:spChg chg="mod">
          <ac:chgData name="zhitao mao" userId="7196763ca46e23da" providerId="LiveId" clId="{B992A739-73A0-D14D-ACA6-E6A18DAC5BBC}" dt="2026-01-26T05:19:24.356" v="7"/>
          <ac:spMkLst>
            <pc:docMk/>
            <pc:sldMk cId="2892995052" sldId="2146849068"/>
            <ac:spMk id="5" creationId="{90449AE0-7FFA-8283-D981-98E8330CC324}"/>
          </ac:spMkLst>
        </pc:spChg>
      </pc:sldChg>
      <pc:sldChg chg="modSp mod">
        <pc:chgData name="zhitao mao" userId="7196763ca46e23da" providerId="LiveId" clId="{B992A739-73A0-D14D-ACA6-E6A18DAC5BBC}" dt="2026-01-26T05:19:12.604" v="6"/>
        <pc:sldMkLst>
          <pc:docMk/>
          <pc:sldMk cId="3383160737" sldId="2146849070"/>
        </pc:sldMkLst>
        <pc:spChg chg="mod">
          <ac:chgData name="zhitao mao" userId="7196763ca46e23da" providerId="LiveId" clId="{B992A739-73A0-D14D-ACA6-E6A18DAC5BBC}" dt="2026-01-26T05:19:12.604" v="6"/>
          <ac:spMkLst>
            <pc:docMk/>
            <pc:sldMk cId="3383160737" sldId="2146849070"/>
            <ac:spMk id="5" creationId="{66438C81-EBD4-1260-3A09-755D7A9FD118}"/>
          </ac:spMkLst>
        </pc:spChg>
      </pc:sldChg>
      <pc:sldChg chg="modSp mod">
        <pc:chgData name="zhitao mao" userId="7196763ca46e23da" providerId="LiveId" clId="{B992A739-73A0-D14D-ACA6-E6A18DAC5BBC}" dt="2026-01-26T05:18:48.529" v="4" actId="58"/>
        <pc:sldMkLst>
          <pc:docMk/>
          <pc:sldMk cId="2345427254" sldId="2146849071"/>
        </pc:sldMkLst>
        <pc:spChg chg="mod">
          <ac:chgData name="zhitao mao" userId="7196763ca46e23da" providerId="LiveId" clId="{B992A739-73A0-D14D-ACA6-E6A18DAC5BBC}" dt="2026-01-26T05:18:48.529" v="4" actId="58"/>
          <ac:spMkLst>
            <pc:docMk/>
            <pc:sldMk cId="2345427254" sldId="2146849071"/>
            <ac:spMk id="5" creationId="{A9D71870-1364-A030-9E80-C9CC3373FF9D}"/>
          </ac:spMkLst>
        </pc:spChg>
      </pc:sldChg>
      <pc:sldChg chg="modSp mod">
        <pc:chgData name="zhitao mao" userId="7196763ca46e23da" providerId="LiveId" clId="{B992A739-73A0-D14D-ACA6-E6A18DAC5BBC}" dt="2026-01-26T05:18:21.371" v="2" actId="58"/>
        <pc:sldMkLst>
          <pc:docMk/>
          <pc:sldMk cId="2843025051" sldId="2146849073"/>
        </pc:sldMkLst>
        <pc:spChg chg="mod">
          <ac:chgData name="zhitao mao" userId="7196763ca46e23da" providerId="LiveId" clId="{B992A739-73A0-D14D-ACA6-E6A18DAC5BBC}" dt="2026-01-26T05:18:21.371" v="2" actId="58"/>
          <ac:spMkLst>
            <pc:docMk/>
            <pc:sldMk cId="2843025051" sldId="2146849073"/>
            <ac:spMk id="3" creationId="{7C9A6B70-ED2D-3D93-758C-0DDDD4DC44D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74" cy="495778"/>
          </a:xfrm>
          <a:prstGeom prst="rect">
            <a:avLst/>
          </a:prstGeom>
        </p:spPr>
        <p:txBody>
          <a:bodyPr vert="horz" lIns="90507" tIns="45254" rIns="90507" bIns="45254" rtlCol="0"/>
          <a:lstStyle>
            <a:lvl1pPr algn="l">
              <a:defRPr sz="1200">
                <a:latin typeface="Arial" panose="020B0604020202020204" pitchFamily="34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30589" y="0"/>
            <a:ext cx="2928996" cy="495778"/>
          </a:xfrm>
          <a:prstGeom prst="rect">
            <a:avLst/>
          </a:prstGeom>
        </p:spPr>
        <p:txBody>
          <a:bodyPr vert="horz" lIns="90507" tIns="45254" rIns="90507" bIns="45254" rtlCol="0"/>
          <a:lstStyle>
            <a:lvl1pPr algn="r">
              <a:defRPr sz="1200" smtClean="0">
                <a:latin typeface="Arial" panose="020B0604020202020204" pitchFamily="34" charset="0"/>
                <a:ea typeface="楷体_GB2312" pitchFamily="49" charset="-122"/>
              </a:defRPr>
            </a:lvl1pPr>
          </a:lstStyle>
          <a:p>
            <a:pPr>
              <a:defRPr/>
            </a:pPr>
            <a:fld id="{56B9D524-19C8-4C5A-8EF8-ADD55194C215}" type="datetimeFigureOut">
              <a:rPr lang="zh-CN" altLang="en-US"/>
              <a:t>2026/1/26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86410"/>
            <a:ext cx="2930574" cy="495778"/>
          </a:xfrm>
          <a:prstGeom prst="rect">
            <a:avLst/>
          </a:prstGeom>
        </p:spPr>
        <p:txBody>
          <a:bodyPr vert="horz" lIns="90507" tIns="45254" rIns="90507" bIns="45254" rtlCol="0" anchor="b"/>
          <a:lstStyle>
            <a:lvl1pPr algn="l">
              <a:defRPr sz="1200">
                <a:latin typeface="Arial" panose="020B0604020202020204" pitchFamily="34" charset="0"/>
                <a:ea typeface="楷体_GB2312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30589" y="9386410"/>
            <a:ext cx="2928996" cy="495778"/>
          </a:xfrm>
          <a:prstGeom prst="rect">
            <a:avLst/>
          </a:prstGeom>
        </p:spPr>
        <p:txBody>
          <a:bodyPr vert="horz" lIns="90507" tIns="45254" rIns="90507" bIns="45254" rtlCol="0" anchor="b"/>
          <a:lstStyle>
            <a:lvl1pPr algn="r">
              <a:defRPr sz="1200" smtClean="0">
                <a:latin typeface="Arial" panose="020B0604020202020204" pitchFamily="34" charset="0"/>
                <a:ea typeface="楷体_GB2312" pitchFamily="49" charset="-122"/>
              </a:defRPr>
            </a:lvl1pPr>
          </a:lstStyle>
          <a:p>
            <a:pPr>
              <a:defRPr/>
            </a:pPr>
            <a:fld id="{1F7F5CB4-0DE0-4500-B3FB-7854AA799CD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1331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74" cy="4957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977" tIns="45489" rIns="90977" bIns="45489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9010" y="0"/>
            <a:ext cx="2930574" cy="4957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977" tIns="45489" rIns="90977" bIns="45489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85725" y="739775"/>
            <a:ext cx="6589713" cy="370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5801" y="4694000"/>
            <a:ext cx="5409562" cy="4447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977" tIns="45489" rIns="90977" bIns="45489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4821"/>
            <a:ext cx="2930574" cy="4957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977" tIns="45489" rIns="90977" bIns="45489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9010" y="9384821"/>
            <a:ext cx="2930574" cy="4957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977" tIns="45489" rIns="90977" bIns="45489" numCol="1" anchor="b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C82B69B-4CDB-45EF-AF2E-DEBF6EE82A6D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3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82B69B-4CDB-45EF-AF2E-DEBF6EE82A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5966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1C365-87E9-87EE-B083-B93C20682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975B3F-BD3C-5B33-593A-2EA4586A0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4C7C04-19FD-1A86-C04E-5B4B74386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p"/>
            </a:pPr>
            <a:endParaRPr lang="en-US" altLang="zh-CN" sz="1200" b="1" dirty="0">
              <a:solidFill>
                <a:srgbClr val="00206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9AD105-D015-EA4B-8468-EB0229E0E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82B69B-4CDB-45EF-AF2E-DEBF6EE82A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84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13963-BB32-C52B-9039-267E1C38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763573-347A-73FD-688C-C2516A410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22D896-7617-6C3B-0A9D-A4B18CAAB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p"/>
            </a:pPr>
            <a:endParaRPr lang="en-US" altLang="zh-CN" sz="1200" b="1" dirty="0">
              <a:solidFill>
                <a:srgbClr val="00206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A604AF-041D-5F4E-1091-C0F4DA0A2E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82B69B-4CDB-45EF-AF2E-DEBF6EE82A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547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D2C2A-9AC7-D86F-AFE7-DB5CBE6FE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985118-06F8-0B46-34F2-026D2D60B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7469BB-B244-BA97-54CB-5CB08CB7F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个模块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1E6CC6-A157-A6BF-C539-143D9842E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82B69B-4CDB-45EF-AF2E-DEBF6EE82A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5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E962F-9EB3-BDC8-B975-D7704EB4A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3B2EBB-80C2-DE9E-80F1-9878D1A07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A1B7D1-7286-2E39-581D-01E469A25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个模块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F6D0DF-DFA7-582E-02DE-B7547DA6C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82B69B-4CDB-45EF-AF2E-DEBF6EE82A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75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98A9C-7E87-0567-2AD9-3F6E3ED3A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FA2AE9-D7E1-589B-76A5-8EBDE381F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068F27-7474-91E0-2455-7B4DA973B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48EC84-41BD-E190-7A59-7172BB9C5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82B69B-4CDB-45EF-AF2E-DEBF6EE82A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79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AD874-EDB2-50C6-C2F8-98918B5EC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9F9BE7-4EEB-A086-0521-1720A0223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B37428-4E58-4200-84EC-F7162029E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33F92E-33AE-A2F1-76F4-EC1502302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82B69B-4CDB-45EF-AF2E-DEBF6EE82A6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881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CCD34-92F5-42E7-74D1-4BA17186F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446C69-0687-E2EF-1BB7-FE98F547A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6ECB7F-D927-73A6-401D-169A2ACFFD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1830AB-2614-68E6-2B64-D5B9619C3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82B69B-4CDB-45EF-AF2E-DEBF6EE82A6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3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A83C4-D490-65D5-9431-C19254E2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BDEBBC-0F1F-5E98-ACDE-D08ACA7F4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7E95A8-B290-7A64-3805-DD2F04A18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496923-588A-1054-C287-F638F99636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82B69B-4CDB-45EF-AF2E-DEBF6EE82A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43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AEEFA-D2D2-8EA8-BD90-9C69AB7A2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107CF6-B121-F560-2AB6-E71EA0696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CBD7FB-085D-2574-031D-4B61C7FBA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D2588C-0453-7DCA-4889-0C097919E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82B69B-4CDB-45EF-AF2E-DEBF6EE82A6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99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6392F-AE1D-26A9-3FBF-FA096F39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A9459E-6170-4384-5C5C-1909D9F7E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1048FD-2585-9A21-F132-6002F24F3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D9879E-8A21-2309-94BB-E0FFC3110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82B69B-4CDB-45EF-AF2E-DEBF6EE82A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96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EF3B7-0134-33CA-B456-E5C299C0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43FF8E-115B-8DE4-A6A3-63E51C715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A23E45-5401-2552-B847-AE8F5AFD3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Noto Sans SC"/>
              </a:rPr>
              <a:t>基于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Noto Sans SC"/>
              </a:rPr>
              <a:t>990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Noto Sans SC"/>
              </a:rPr>
              <a:t>个具有实验测定</a:t>
            </a:r>
            <a:r>
              <a:rPr lang="en" altLang="zh-CN" b="0" i="0" dirty="0" err="1">
                <a:solidFill>
                  <a:srgbClr val="333333"/>
                </a:solidFill>
                <a:effectLst/>
                <a:latin typeface="Noto Sans SC"/>
              </a:rPr>
              <a:t>k</a:t>
            </a:r>
            <a:r>
              <a:rPr lang="en" altLang="zh-CN" b="0" i="0" baseline="-25000" dirty="0" err="1">
                <a:solidFill>
                  <a:srgbClr val="333333"/>
                </a:solidFill>
                <a:effectLst/>
                <a:latin typeface="Noto Sans SC"/>
              </a:rPr>
              <a:t>cat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Noto Sans SC"/>
              </a:rPr>
              <a:t>值的反应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CC4A4F-BA69-AA60-89C5-6B65B166F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82B69B-4CDB-45EF-AF2E-DEBF6EE82A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06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3CDE3-7168-9FEF-4FF9-F8861F79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D07588-087D-942C-5FCB-5BDEB3DAB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9C2F95-69C4-9DED-3212-CC8B052CB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4B184D-74D0-538A-0972-90C9F36E6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82B69B-4CDB-45EF-AF2E-DEBF6EE82A6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35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F0624-9D24-C5A2-A72A-9EE848D5F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10C4D7-227B-AD25-699F-BD0F909E9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8D808E5-E4F0-D8D2-CF77-2DB372028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DC325C-C392-B936-2542-5B6C6283D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82B69B-4CDB-45EF-AF2E-DEBF6EE82A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53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E7B17-0D8F-8F9C-9352-96FAC371A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15578D-0693-7B66-507E-A476FE0EA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FEFD08-7517-73B3-EDEB-ADC662567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FD0673-6C4D-3BDD-C108-F57F8AB84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82B69B-4CDB-45EF-AF2E-DEBF6EE82A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94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83254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/>
        </p:nvCxnSpPr>
        <p:spPr>
          <a:xfrm>
            <a:off x="503428" y="971550"/>
            <a:ext cx="11185144" cy="0"/>
          </a:xfrm>
          <a:prstGeom prst="line">
            <a:avLst/>
          </a:prstGeom>
          <a:ln w="19050">
            <a:solidFill>
              <a:srgbClr val="0D4B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562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94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699044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FE4B6-CAB1-F3E8-4603-825480F31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3606455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579689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5440" y="11663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6521858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7038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FE4B6-CAB1-F3E8-4603-825480F31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861493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87515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5440" y="11663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656665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6" name="图片 4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3" y="115889"/>
            <a:ext cx="3099344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6567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762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849" r:id="rId2"/>
    <p:sldLayoutId id="2147483836" r:id="rId3"/>
    <p:sldLayoutId id="2147483837" r:id="rId4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08"/>
          <a:stretch>
            <a:fillRect/>
          </a:stretch>
        </p:blipFill>
        <p:spPr>
          <a:xfrm>
            <a:off x="0" y="1825607"/>
            <a:ext cx="12192000" cy="5032393"/>
          </a:xfrm>
          <a:prstGeom prst="rect">
            <a:avLst/>
          </a:prstGeom>
        </p:spPr>
      </p:pic>
      <p:sp>
        <p:nvSpPr>
          <p:cNvPr id="14" name="等腰三角形 13"/>
          <p:cNvSpPr/>
          <p:nvPr/>
        </p:nvSpPr>
        <p:spPr>
          <a:xfrm rot="10800000" flipH="1">
            <a:off x="0" y="4194"/>
            <a:ext cx="5231904" cy="1282266"/>
          </a:xfrm>
          <a:prstGeom prst="triangle">
            <a:avLst>
              <a:gd name="adj" fmla="val 0"/>
            </a:avLst>
          </a:prstGeom>
          <a:solidFill>
            <a:srgbClr val="2646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515380" y="1593931"/>
            <a:ext cx="11161240" cy="2313060"/>
          </a:xfrm>
          <a:prstGeom prst="rect">
            <a:avLst/>
          </a:prstGeom>
          <a:noFill/>
        </p:spPr>
        <p:txBody>
          <a:bodyPr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150" normalizeH="0" baseline="0" noProof="0" dirty="0">
                <a:ln>
                  <a:noFill/>
                </a:ln>
                <a:solidFill>
                  <a:srgbClr val="26469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酶催化周转数（</a:t>
            </a:r>
            <a:r>
              <a:rPr kumimoji="0" lang="en" altLang="zh-CN" b="1" i="1" u="none" strike="noStrike" kern="1200" cap="none" spc="150" normalizeH="0" baseline="0" noProof="0" dirty="0" err="1">
                <a:ln>
                  <a:noFill/>
                </a:ln>
                <a:solidFill>
                  <a:srgbClr val="26469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kumimoji="0" lang="en" altLang="zh-CN" b="1" i="0" u="none" strike="noStrike" kern="1200" cap="none" spc="150" normalizeH="0" baseline="-25000" noProof="0" dirty="0" err="1">
                <a:ln>
                  <a:noFill/>
                </a:ln>
                <a:solidFill>
                  <a:srgbClr val="26469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cat</a:t>
            </a:r>
            <a:r>
              <a:rPr kumimoji="0" lang="zh-CN" altLang="en" b="1" i="0" u="none" strike="noStrike" kern="1200" cap="none" spc="150" normalizeH="0" baseline="0" noProof="0" dirty="0">
                <a:ln>
                  <a:noFill/>
                </a:ln>
                <a:solidFill>
                  <a:srgbClr val="26469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b="1" i="0" u="none" strike="noStrike" kern="1200" cap="none" spc="150" normalizeH="0" baseline="0" noProof="0" dirty="0">
                <a:ln>
                  <a:noFill/>
                </a:ln>
                <a:solidFill>
                  <a:srgbClr val="26469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预测方法的</a:t>
            </a:r>
            <a:br>
              <a:rPr kumimoji="0" lang="zh-CN" altLang="en-US" b="1" i="0" u="none" strike="noStrike" kern="1200" cap="none" spc="150" normalizeH="0" baseline="0" noProof="0" dirty="0">
                <a:ln>
                  <a:noFill/>
                </a:ln>
                <a:solidFill>
                  <a:srgbClr val="26469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zh-CN" altLang="en-US" b="1" i="0" u="none" strike="noStrike" kern="1200" cap="none" spc="150" normalizeH="0" baseline="0" noProof="0" dirty="0">
                <a:ln>
                  <a:noFill/>
                </a:ln>
                <a:solidFill>
                  <a:srgbClr val="26469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系统性评估与比较研究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15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基于大肠杆菌代谢网络模型的深度分析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3647728" y="4138668"/>
            <a:ext cx="4896544" cy="889149"/>
          </a:xfrm>
          <a:prstGeom prst="rect">
            <a:avLst/>
          </a:prstGeom>
          <a:noFill/>
        </p:spPr>
        <p:txBody>
          <a:bodyPr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spc="150" dirty="0">
                <a:solidFill>
                  <a:srgbClr val="264695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汇报人：毛志涛</a:t>
            </a:r>
            <a:endParaRPr lang="en-US" altLang="zh-CN" sz="2800" b="1" spc="150" dirty="0">
              <a:solidFill>
                <a:srgbClr val="264695"/>
              </a:solidFill>
              <a:latin typeface="Times New Roman" panose="02020603050405020304" pitchFamily="18" charset="0"/>
              <a:ea typeface="微软雅黑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150" normalizeH="0" baseline="0" noProof="0" dirty="0">
                <a:ln>
                  <a:noFill/>
                </a:ln>
                <a:solidFill>
                  <a:srgbClr val="26469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2026</a:t>
            </a:r>
            <a:r>
              <a:rPr kumimoji="0" lang="zh-CN" altLang="en-US" sz="2800" b="1" i="0" u="none" strike="noStrike" kern="1200" cap="none" spc="150" normalizeH="0" baseline="0" noProof="0" dirty="0">
                <a:ln>
                  <a:noFill/>
                </a:ln>
                <a:solidFill>
                  <a:srgbClr val="26469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年</a:t>
            </a:r>
            <a:r>
              <a:rPr lang="en-US" altLang="zh-CN" sz="2800" b="1" spc="150" noProof="0" dirty="0">
                <a:solidFill>
                  <a:srgbClr val="264695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01 </a:t>
            </a:r>
            <a:r>
              <a:rPr kumimoji="0" lang="zh-CN" altLang="en-US" sz="2800" b="1" i="0" u="none" strike="noStrike" kern="1200" cap="none" spc="150" normalizeH="0" baseline="0" noProof="0" dirty="0">
                <a:ln>
                  <a:noFill/>
                </a:ln>
                <a:solidFill>
                  <a:srgbClr val="26469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月 </a:t>
            </a:r>
            <a:r>
              <a:rPr lang="en-US" altLang="zh-CN" sz="2800" b="1" spc="150" dirty="0">
                <a:solidFill>
                  <a:srgbClr val="264695"/>
                </a:solidFill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26</a:t>
            </a:r>
            <a:r>
              <a:rPr kumimoji="0" lang="en-US" altLang="zh-CN" sz="2800" b="1" i="0" u="none" strike="noStrike" kern="1200" cap="none" spc="150" normalizeH="0" baseline="0" noProof="0" dirty="0">
                <a:ln>
                  <a:noFill/>
                </a:ln>
                <a:solidFill>
                  <a:srgbClr val="26469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 </a:t>
            </a:r>
            <a:r>
              <a:rPr kumimoji="0" lang="zh-CN" altLang="en-US" sz="2800" b="1" i="0" u="none" strike="noStrike" kern="1200" cap="none" spc="150" normalizeH="0" baseline="0" noProof="0" dirty="0">
                <a:ln>
                  <a:noFill/>
                </a:ln>
                <a:solidFill>
                  <a:srgbClr val="26469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日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37CA9EA-48B2-3FF5-3F58-E46EC52D94C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55" r="182"/>
          <a:stretch/>
        </p:blipFill>
        <p:spPr>
          <a:xfrm>
            <a:off x="10395139" y="10432"/>
            <a:ext cx="1729967" cy="169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1771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8413F-3C05-E061-57B3-B8EAF3D69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9B26F94-391A-1C06-F1D4-B49DFA0DA865}"/>
              </a:ext>
            </a:extLst>
          </p:cNvPr>
          <p:cNvSpPr txBox="1"/>
          <p:nvPr/>
        </p:nvSpPr>
        <p:spPr>
          <a:xfrm>
            <a:off x="0" y="188819"/>
            <a:ext cx="1219200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现有方法概述</a:t>
            </a:r>
            <a:endParaRPr kumimoji="0" lang="zh-CN" altLang="en-US" sz="3200" b="1" i="0" u="none" strike="noStrike" kern="1200" cap="none" spc="10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cxnSp>
        <p:nvCxnSpPr>
          <p:cNvPr id="21" name="直接连接符 1">
            <a:extLst>
              <a:ext uri="{FF2B5EF4-FFF2-40B4-BE49-F238E27FC236}">
                <a16:creationId xmlns:a16="http://schemas.microsoft.com/office/drawing/2014/main" id="{D796B001-69B6-0D8D-9BA0-11DFEE43A5B2}"/>
              </a:ext>
            </a:extLst>
          </p:cNvPr>
          <p:cNvCxnSpPr>
            <a:cxnSpLocks/>
          </p:cNvCxnSpPr>
          <p:nvPr/>
        </p:nvCxnSpPr>
        <p:spPr>
          <a:xfrm>
            <a:off x="380619" y="764704"/>
            <a:ext cx="11404013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666B8E5C-813E-28F4-F234-2903ED7046FA}"/>
              </a:ext>
            </a:extLst>
          </p:cNvPr>
          <p:cNvCxnSpPr>
            <a:cxnSpLocks/>
          </p:cNvCxnSpPr>
          <p:nvPr/>
        </p:nvCxnSpPr>
        <p:spPr>
          <a:xfrm>
            <a:off x="620419" y="3616986"/>
            <a:ext cx="10478813" cy="0"/>
          </a:xfrm>
          <a:prstGeom prst="line">
            <a:avLst/>
          </a:prstGeom>
          <a:ln w="825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09D4909-BEB6-B49E-1DAC-204108354879}"/>
              </a:ext>
            </a:extLst>
          </p:cNvPr>
          <p:cNvSpPr txBox="1"/>
          <p:nvPr/>
        </p:nvSpPr>
        <p:spPr>
          <a:xfrm>
            <a:off x="62387" y="1892244"/>
            <a:ext cx="18813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KM_Prediction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Biology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507DE7C3-7E96-D453-51F7-23FCD1FEF8B4}"/>
              </a:ext>
            </a:extLst>
          </p:cNvPr>
          <p:cNvCxnSpPr>
            <a:stCxn id="5" idx="2"/>
          </p:cNvCxnSpPr>
          <p:nvPr/>
        </p:nvCxnSpPr>
        <p:spPr>
          <a:xfrm flipH="1">
            <a:off x="998215" y="2815574"/>
            <a:ext cx="4848" cy="7387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AE31F08-DBAD-613E-2E88-9CB68A02A89F}"/>
              </a:ext>
            </a:extLst>
          </p:cNvPr>
          <p:cNvSpPr txBox="1"/>
          <p:nvPr/>
        </p:nvSpPr>
        <p:spPr>
          <a:xfrm>
            <a:off x="2423349" y="4660028"/>
            <a:ext cx="18813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DLKcat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Catalysis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7A6C2E-C45C-8D4A-8FEE-D6DC599B1E92}"/>
              </a:ext>
            </a:extLst>
          </p:cNvPr>
          <p:cNvSpPr txBox="1"/>
          <p:nvPr/>
        </p:nvSpPr>
        <p:spPr>
          <a:xfrm>
            <a:off x="8211408" y="1705236"/>
            <a:ext cx="2249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UniKP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0C98B56F-DEE9-DE0C-0353-8AEE3DE0211F}"/>
              </a:ext>
            </a:extLst>
          </p:cNvPr>
          <p:cNvCxnSpPr>
            <a:cxnSpLocks/>
          </p:cNvCxnSpPr>
          <p:nvPr/>
        </p:nvCxnSpPr>
        <p:spPr>
          <a:xfrm>
            <a:off x="9120094" y="2890127"/>
            <a:ext cx="0" cy="711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B6E847BA-5188-28CD-0779-7366092FA404}"/>
              </a:ext>
            </a:extLst>
          </p:cNvPr>
          <p:cNvCxnSpPr/>
          <p:nvPr/>
        </p:nvCxnSpPr>
        <p:spPr>
          <a:xfrm flipH="1">
            <a:off x="3364025" y="3616986"/>
            <a:ext cx="4848" cy="101573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0B848A3-214B-BF28-54CA-C1794CB24651}"/>
              </a:ext>
            </a:extLst>
          </p:cNvPr>
          <p:cNvSpPr txBox="1"/>
          <p:nvPr/>
        </p:nvSpPr>
        <p:spPr>
          <a:xfrm>
            <a:off x="4113049" y="4656526"/>
            <a:ext cx="21267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TurNup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endParaRPr lang="en-US" altLang="zh-CN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ED0A1485-5ADF-1B88-EE6F-921FACBC835E}"/>
              </a:ext>
            </a:extLst>
          </p:cNvPr>
          <p:cNvCxnSpPr/>
          <p:nvPr/>
        </p:nvCxnSpPr>
        <p:spPr>
          <a:xfrm flipH="1">
            <a:off x="5288637" y="3651633"/>
            <a:ext cx="4848" cy="101573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C2B2BED5-94AE-0DEF-64C9-56366084B1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4"/>
          <a:stretch/>
        </p:blipFill>
        <p:spPr>
          <a:xfrm>
            <a:off x="1863446" y="1378391"/>
            <a:ext cx="2032240" cy="189837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6741F02-B21E-005C-C664-23DD1494B9D7}"/>
              </a:ext>
            </a:extLst>
          </p:cNvPr>
          <p:cNvSpPr txBox="1"/>
          <p:nvPr/>
        </p:nvSpPr>
        <p:spPr>
          <a:xfrm>
            <a:off x="1943738" y="10888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底物与酶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4B3B9CA-8F01-CF55-D270-63572E5A7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19" y="3784861"/>
            <a:ext cx="1882640" cy="229726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BA729E3-E108-5CEA-B5DF-8E6B9E017C9E}"/>
              </a:ext>
            </a:extLst>
          </p:cNvPr>
          <p:cNvSpPr txBox="1"/>
          <p:nvPr/>
        </p:nvSpPr>
        <p:spPr>
          <a:xfrm>
            <a:off x="661491" y="6082129"/>
            <a:ext cx="1761857" cy="376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底物与酶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8AD3EA6-78C4-42A1-6A02-42728F047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738" y="3843996"/>
            <a:ext cx="2241396" cy="201286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02E71C6-A997-79C9-C4D4-6F7AA0FF7DF4}"/>
              </a:ext>
            </a:extLst>
          </p:cNvPr>
          <p:cNvSpPr txBox="1"/>
          <p:nvPr/>
        </p:nvSpPr>
        <p:spPr>
          <a:xfrm>
            <a:off x="6637438" y="592845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反应与酶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A46E76B-A186-ABFC-1F21-3CA8B84214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3245" y="1681369"/>
            <a:ext cx="3946727" cy="156446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6B737B6-CA29-B388-95B7-7F707EC13F95}"/>
              </a:ext>
            </a:extLst>
          </p:cNvPr>
          <p:cNvSpPr txBox="1"/>
          <p:nvPr/>
        </p:nvSpPr>
        <p:spPr>
          <a:xfrm>
            <a:off x="5225750" y="1076371"/>
            <a:ext cx="3188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p"/>
            </a:pPr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实现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Km</a:t>
            </a:r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kcat</a:t>
            </a:r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的分别预测</a:t>
            </a:r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p"/>
            </a:pPr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首次考虑</a:t>
            </a:r>
            <a:r>
              <a:rPr kumimoji="1"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pH</a:t>
            </a:r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和温度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CC2EF4C-FF9A-227D-13E3-E8A556593451}"/>
              </a:ext>
            </a:extLst>
          </p:cNvPr>
          <p:cNvSpPr txBox="1"/>
          <p:nvPr/>
        </p:nvSpPr>
        <p:spPr>
          <a:xfrm>
            <a:off x="8127334" y="4610404"/>
            <a:ext cx="20179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MPEK</a:t>
            </a:r>
          </a:p>
          <a:p>
            <a:pPr algn="ctr"/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2024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6FDB0E27-99A3-F490-8D84-2DC8F7618204}"/>
              </a:ext>
            </a:extLst>
          </p:cNvPr>
          <p:cNvCxnSpPr/>
          <p:nvPr/>
        </p:nvCxnSpPr>
        <p:spPr>
          <a:xfrm flipH="1">
            <a:off x="9299244" y="3679668"/>
            <a:ext cx="4848" cy="101573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">
            <a:extLst>
              <a:ext uri="{FF2B5EF4-FFF2-40B4-BE49-F238E27FC236}">
                <a16:creationId xmlns:a16="http://schemas.microsoft.com/office/drawing/2014/main" id="{7E7BDF7A-92E3-21C9-33DF-FF9E31560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9543" y="3921611"/>
            <a:ext cx="2215332" cy="186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65439508-E08F-30ED-FD6A-635859E32891}"/>
              </a:ext>
            </a:extLst>
          </p:cNvPr>
          <p:cNvSpPr txBox="1"/>
          <p:nvPr/>
        </p:nvSpPr>
        <p:spPr>
          <a:xfrm>
            <a:off x="9652184" y="5789959"/>
            <a:ext cx="1878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p"/>
            </a:pPr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多任务学习</a:t>
            </a:r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p"/>
            </a:pPr>
            <a:r>
              <a:rPr kumimoji="1"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无法复现</a:t>
            </a:r>
            <a:endParaRPr kumimoji="1" lang="en-US" altLang="zh-CN" b="1" dirty="0">
              <a:solidFill>
                <a:srgbClr val="C0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DA1BD3D-CFC2-5E7D-E882-BD93C5DE3582}"/>
              </a:ext>
            </a:extLst>
          </p:cNvPr>
          <p:cNvSpPr txBox="1"/>
          <p:nvPr/>
        </p:nvSpPr>
        <p:spPr>
          <a:xfrm>
            <a:off x="9936167" y="936014"/>
            <a:ext cx="1912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篇</a:t>
            </a: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Nature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子刊进行评估</a:t>
            </a:r>
          </a:p>
        </p:txBody>
      </p:sp>
    </p:spTree>
    <p:extLst>
      <p:ext uri="{BB962C8B-B14F-4D97-AF65-F5344CB8AC3E}">
        <p14:creationId xmlns:p14="http://schemas.microsoft.com/office/powerpoint/2010/main" val="2551443715"/>
      </p:ext>
    </p:extLst>
  </p:cSld>
  <p:clrMapOvr>
    <a:masterClrMapping/>
  </p:clrMapOvr>
  <p:transition advTm="2035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1A22B-7EBB-359C-BA52-ED545C631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1">
            <a:extLst>
              <a:ext uri="{FF2B5EF4-FFF2-40B4-BE49-F238E27FC236}">
                <a16:creationId xmlns:a16="http://schemas.microsoft.com/office/drawing/2014/main" id="{DD2815E0-D370-CC7F-62D7-EBC24989A4EB}"/>
              </a:ext>
            </a:extLst>
          </p:cNvPr>
          <p:cNvCxnSpPr>
            <a:cxnSpLocks/>
          </p:cNvCxnSpPr>
          <p:nvPr/>
        </p:nvCxnSpPr>
        <p:spPr>
          <a:xfrm>
            <a:off x="380619" y="764704"/>
            <a:ext cx="11404013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A1062D74-45E6-3D20-2E45-C27C71B0707E}"/>
              </a:ext>
            </a:extLst>
          </p:cNvPr>
          <p:cNvSpPr/>
          <p:nvPr/>
        </p:nvSpPr>
        <p:spPr>
          <a:xfrm>
            <a:off x="551384" y="1837538"/>
            <a:ext cx="11004417" cy="3613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125"/>
              </a:spcAft>
              <a:buNone/>
            </a:pPr>
            <a:r>
              <a:rPr lang="zh-CN" altLang="en-US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尽管这些方法在各自的原始论文中报告了良好的性能，但缺乏在统一数据集上的横向比较和深度评估。不同方法可能在不同的生物学场景下表现各异，而这些差异性特征对于实际应用至关重要。本研究的核心目标是：</a:t>
            </a:r>
          </a:p>
          <a:p>
            <a:pPr algn="l">
              <a:spcBef>
                <a:spcPts val="1125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在统一的基准数据集（大肠杆菌代谢网络）上系统评估四种方法的性能；</a:t>
            </a:r>
          </a:p>
          <a:p>
            <a:pPr algn="l">
              <a:spcBef>
                <a:spcPts val="1125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从多个生物学相关维度剖析各方法的优势与局限性；</a:t>
            </a:r>
          </a:p>
          <a:p>
            <a:pPr algn="l">
              <a:spcBef>
                <a:spcPts val="1125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揭示方法间的互补性，为集成建模提供依据；</a:t>
            </a:r>
          </a:p>
          <a:p>
            <a:pPr algn="l">
              <a:spcBef>
                <a:spcPts val="1125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为基因组规模代谢模型的构建提供基于证据的方法选择指南。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188E0C-FA18-9C26-5391-8E0840BE652F}"/>
              </a:ext>
            </a:extLst>
          </p:cNvPr>
          <p:cNvSpPr txBox="1"/>
          <p:nvPr/>
        </p:nvSpPr>
        <p:spPr>
          <a:xfrm>
            <a:off x="0" y="188819"/>
            <a:ext cx="1219200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1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研究目标</a:t>
            </a:r>
            <a:endParaRPr kumimoji="0" lang="zh-CN" altLang="en-US" sz="3200" b="1" i="0" u="none" strike="noStrike" kern="1200" cap="none" spc="10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167469"/>
      </p:ext>
    </p:extLst>
  </p:cSld>
  <p:clrMapOvr>
    <a:masterClrMapping/>
  </p:clrMapOvr>
  <p:transition advTm="2035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25D8-45E3-A803-1F96-FC3D64A6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9904D01-6BDB-9B7E-A468-175267C692F7}"/>
              </a:ext>
            </a:extLst>
          </p:cNvPr>
          <p:cNvSpPr txBox="1"/>
          <p:nvPr/>
        </p:nvSpPr>
        <p:spPr>
          <a:xfrm>
            <a:off x="0" y="21039"/>
            <a:ext cx="12192000" cy="74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200" b="1" spc="100" dirty="0">
                <a:solidFill>
                  <a:srgbClr val="00206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材料与方法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1C616F99-3636-5E14-1B8F-982A92308A4A}"/>
              </a:ext>
            </a:extLst>
          </p:cNvPr>
          <p:cNvCxnSpPr>
            <a:cxnSpLocks/>
          </p:cNvCxnSpPr>
          <p:nvPr/>
        </p:nvCxnSpPr>
        <p:spPr>
          <a:xfrm>
            <a:off x="380618" y="764704"/>
            <a:ext cx="11404014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C6DAC9D-AD76-7383-58AA-67D9144E7D09}"/>
              </a:ext>
            </a:extLst>
          </p:cNvPr>
          <p:cNvSpPr txBox="1"/>
          <p:nvPr/>
        </p:nvSpPr>
        <p:spPr>
          <a:xfrm>
            <a:off x="5601133" y="1268760"/>
            <a:ext cx="6192688" cy="5130284"/>
          </a:xfrm>
          <a:prstGeom prst="roundRect">
            <a:avLst>
              <a:gd name="adj" fmla="val 8223"/>
            </a:avLst>
          </a:prstGeom>
          <a:solidFill>
            <a:srgbClr val="CCD7F2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评估框架：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评估框架：全局分布分析：评估预测值的统计分布特征、动态范围和偏度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方法间一致性：通过</a:t>
            </a:r>
            <a:r>
              <a:rPr lang="en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Spearman</a:t>
            </a: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相关分析和层次聚类揭示方法间的相似性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热力学对称性：检验正反向反应</a:t>
            </a:r>
            <a:r>
              <a:rPr lang="en" altLang="zh-CN" b="1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kcat</a:t>
            </a: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预测的一致性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同工酶特异性：评估方法区分催化相同反应的不同酶的能力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酶复合物处理：比较单亚基酶和多亚基复合物的预测差异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底物特异性：评估相同酶催化不同底物时</a:t>
            </a:r>
            <a:r>
              <a:rPr lang="en" altLang="zh-CN" b="1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kcat</a:t>
            </a: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变化的捕捉能力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覆盖范围：统计各方法对不同反应类型的覆盖能力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真值基准测试：基于实验数据计算</a:t>
            </a:r>
            <a:r>
              <a:rPr lang="en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RMSE</a:t>
            </a:r>
            <a:r>
              <a:rPr lang="zh-CN" altLang="e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MAE</a:t>
            </a:r>
            <a:r>
              <a:rPr lang="zh-CN" altLang="e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R²</a:t>
            </a: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等性能指标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系统偏差检测：通过</a:t>
            </a:r>
            <a:r>
              <a:rPr lang="en" altLang="zh-CN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Bland-Altman</a:t>
            </a: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分析识别系统性高估或低估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3139FF4-0FC2-6BE7-E8E0-9BA82D31B81A}"/>
              </a:ext>
            </a:extLst>
          </p:cNvPr>
          <p:cNvSpPr txBox="1"/>
          <p:nvPr/>
        </p:nvSpPr>
        <p:spPr>
          <a:xfrm>
            <a:off x="398179" y="2542084"/>
            <a:ext cx="4923294" cy="2871668"/>
          </a:xfrm>
          <a:prstGeom prst="roundRect">
            <a:avLst>
              <a:gd name="adj" fmla="val 8223"/>
            </a:avLst>
          </a:prstGeom>
          <a:solidFill>
            <a:srgbClr val="E2F0D9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数据集</a:t>
            </a:r>
          </a:p>
          <a:p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本研究基于大肠杆菌代谢网络模型，共包含</a:t>
            </a:r>
            <a:r>
              <a:rPr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5,336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个酶促反应。数据集涵盖：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代谢反应：</a:t>
            </a:r>
            <a:r>
              <a:rPr lang="en-US" altLang="zh-CN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2,894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个核心代谢和次级代谢反应（</a:t>
            </a:r>
            <a:r>
              <a:rPr lang="en-US" altLang="zh-CN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54.2%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运输反应：</a:t>
            </a:r>
            <a:r>
              <a:rPr lang="en-US" altLang="zh-CN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2,442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个跨膜运输过程（</a:t>
            </a:r>
            <a:r>
              <a:rPr lang="en-US" altLang="zh-CN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45.8%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酶复合物：</a:t>
            </a:r>
            <a:r>
              <a:rPr lang="en-US" altLang="zh-CN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435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个多亚基酶复合体（</a:t>
            </a:r>
            <a:r>
              <a:rPr lang="en-US" altLang="zh-CN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8.2%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真值数据：</a:t>
            </a:r>
            <a:r>
              <a:rPr lang="en-US" altLang="zh-CN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990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个具有实验测定</a:t>
            </a:r>
            <a:r>
              <a:rPr lang="en" altLang="zh-CN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kcat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值的反应（</a:t>
            </a:r>
            <a:r>
              <a:rPr lang="en-US" altLang="zh-CN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18.6%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25376391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73947-CB4A-46C8-C077-7DC6AFD48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4B0EC76-FBC7-D12F-AE54-03B4891757AD}"/>
              </a:ext>
            </a:extLst>
          </p:cNvPr>
          <p:cNvSpPr txBox="1"/>
          <p:nvPr/>
        </p:nvSpPr>
        <p:spPr>
          <a:xfrm>
            <a:off x="0" y="21039"/>
            <a:ext cx="12192000" cy="743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200" b="1" spc="100" dirty="0">
                <a:solidFill>
                  <a:srgbClr val="00206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全局分布特征与动态范围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4079D88-9134-AEA6-AFA7-8BC47F21F486}"/>
              </a:ext>
            </a:extLst>
          </p:cNvPr>
          <p:cNvCxnSpPr>
            <a:cxnSpLocks/>
          </p:cNvCxnSpPr>
          <p:nvPr/>
        </p:nvCxnSpPr>
        <p:spPr>
          <a:xfrm>
            <a:off x="380618" y="764704"/>
            <a:ext cx="11404014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01_global_distribution.png">
            <a:extLst>
              <a:ext uri="{FF2B5EF4-FFF2-40B4-BE49-F238E27FC236}">
                <a16:creationId xmlns:a16="http://schemas.microsoft.com/office/drawing/2014/main" id="{E5E33F56-B3E9-07DB-4519-303D2AFEA1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32"/>
          <a:stretch/>
        </p:blipFill>
        <p:spPr>
          <a:xfrm>
            <a:off x="479376" y="811949"/>
            <a:ext cx="11305256" cy="501837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4C5A606-D1FD-F58D-A684-C11E49223B45}"/>
              </a:ext>
            </a:extLst>
          </p:cNvPr>
          <p:cNvSpPr txBox="1"/>
          <p:nvPr/>
        </p:nvSpPr>
        <p:spPr>
          <a:xfrm>
            <a:off x="365760" y="5805264"/>
            <a:ext cx="11460480" cy="1021556"/>
          </a:xfrm>
          <a:prstGeom prst="roundRect">
            <a:avLst/>
          </a:prstGeom>
          <a:solidFill>
            <a:srgbClr val="E2F0D9"/>
          </a:solidFill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关键发现</a:t>
            </a:r>
            <a:r>
              <a:rPr lang="en-US" altLang="zh-CN" b="1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b="1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" altLang="zh-CN" b="0" i="0" dirty="0" err="1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DLKcat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展现了最宽的动态范围（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9.12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个数量级，从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b="1" i="0" baseline="3000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-3.5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b="1" i="0" baseline="3000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5.6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" altLang="zh-CN" b="1" i="0" baseline="3000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但这可能包含过度预测的极端值。</a:t>
            </a:r>
            <a:r>
              <a:rPr lang="en" altLang="zh-CN" b="0" i="0" dirty="0" err="1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TurNup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的预测中位数（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14.0 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" altLang="zh-CN" b="1" i="0" baseline="3000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最接近文献报道的酶活性典型值（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~10 </a:t>
            </a:r>
            <a:r>
              <a:rPr lang="en" altLang="zh-CN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" altLang="zh-CN" b="1" i="0" baseline="3000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）。</a:t>
            </a:r>
            <a:r>
              <a:rPr lang="en" altLang="zh-CN" b="0" i="0" dirty="0" err="1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UniKP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" altLang="zh-CN" b="0" i="0" dirty="0" err="1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TurNup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显示出较窄的标准差，表明预测更为集中和稳定。</a:t>
            </a:r>
            <a:endParaRPr lang="zh-CN" alt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12559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81AAE-6812-7BBA-70CD-7F54A7F44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5673A6B-604D-F45E-9D0D-6A33F3ED52D9}"/>
              </a:ext>
            </a:extLst>
          </p:cNvPr>
          <p:cNvSpPr txBox="1"/>
          <p:nvPr/>
        </p:nvSpPr>
        <p:spPr>
          <a:xfrm>
            <a:off x="0" y="21039"/>
            <a:ext cx="12192000" cy="743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200" b="1" spc="100" dirty="0">
                <a:solidFill>
                  <a:srgbClr val="00206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方法间一致性与聚类模式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53A1CB2-342B-33EB-137A-949D8E441252}"/>
              </a:ext>
            </a:extLst>
          </p:cNvPr>
          <p:cNvCxnSpPr>
            <a:cxnSpLocks/>
          </p:cNvCxnSpPr>
          <p:nvPr/>
        </p:nvCxnSpPr>
        <p:spPr>
          <a:xfrm>
            <a:off x="380618" y="764704"/>
            <a:ext cx="11404014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5EF6F06E-1F45-17D4-6B84-C4841129D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80727"/>
            <a:ext cx="11544687" cy="461062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CB23FC7-795F-DC87-05E3-B01A5BF1AC12}"/>
              </a:ext>
            </a:extLst>
          </p:cNvPr>
          <p:cNvSpPr txBox="1"/>
          <p:nvPr/>
        </p:nvSpPr>
        <p:spPr>
          <a:xfrm>
            <a:off x="365760" y="5791820"/>
            <a:ext cx="11460480" cy="1021556"/>
          </a:xfrm>
          <a:prstGeom prst="roundRect">
            <a:avLst/>
          </a:prstGeom>
          <a:solidFill>
            <a:srgbClr val="E2F0D9"/>
          </a:solidFill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关键发现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方法间相关性的缺失（大部分</a:t>
            </a:r>
            <a:r>
              <a:rPr lang="el-GR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ρ &lt; 0.15</a:t>
            </a:r>
            <a:r>
              <a:rPr lang="zh-CN" altLang="el-GR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表明各方法基于不同的特征空间和学习策略。</a:t>
            </a:r>
            <a:r>
              <a:rPr lang="en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MTLKP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" altLang="zh-CN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TurNup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的中等相关性（</a:t>
            </a:r>
            <a:r>
              <a:rPr lang="el-GR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ρ = 0.415</a:t>
            </a:r>
            <a:r>
              <a:rPr lang="zh-CN" altLang="el-GR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可能源于两者都强调反应化学特征。这种低一致性为集成学习提供了理论基础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不同方法的组合有望通过互补性提升整体性能。</a:t>
            </a:r>
            <a:endParaRPr lang="zh-CN" alt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51472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873C7-272D-8BEB-6B63-1EC489AE1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4C7B3FD-99A3-9A6C-BE86-17D99DD91A96}"/>
              </a:ext>
            </a:extLst>
          </p:cNvPr>
          <p:cNvSpPr txBox="1"/>
          <p:nvPr/>
        </p:nvSpPr>
        <p:spPr>
          <a:xfrm>
            <a:off x="0" y="21039"/>
            <a:ext cx="12192000" cy="743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200" b="1" spc="100" dirty="0">
                <a:solidFill>
                  <a:srgbClr val="00206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热力学不对称性与方向性识别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DC65F3C-3772-A1A5-42ED-985F6670AD28}"/>
              </a:ext>
            </a:extLst>
          </p:cNvPr>
          <p:cNvCxnSpPr>
            <a:cxnSpLocks/>
          </p:cNvCxnSpPr>
          <p:nvPr/>
        </p:nvCxnSpPr>
        <p:spPr>
          <a:xfrm>
            <a:off x="380618" y="764704"/>
            <a:ext cx="11404014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4C706857-D33D-8212-DD1C-D5DE9DA468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69" r="33555"/>
          <a:stretch/>
        </p:blipFill>
        <p:spPr>
          <a:xfrm>
            <a:off x="479376" y="822316"/>
            <a:ext cx="6048672" cy="48389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3E41642-2895-6B0F-FE76-279527E24B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445" t="3369" b="48951"/>
          <a:stretch/>
        </p:blipFill>
        <p:spPr>
          <a:xfrm>
            <a:off x="3503712" y="3240892"/>
            <a:ext cx="3024336" cy="236406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88D949D-0700-6A9C-E38F-621C8E03C3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445" t="51684"/>
          <a:stretch/>
        </p:blipFill>
        <p:spPr>
          <a:xfrm>
            <a:off x="6888088" y="1573879"/>
            <a:ext cx="4320480" cy="342220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8A518F0-761B-2D2E-DCA5-43820DB7813B}"/>
              </a:ext>
            </a:extLst>
          </p:cNvPr>
          <p:cNvSpPr txBox="1"/>
          <p:nvPr/>
        </p:nvSpPr>
        <p:spPr>
          <a:xfrm>
            <a:off x="365760" y="5621560"/>
            <a:ext cx="11460480" cy="1191816"/>
          </a:xfrm>
          <a:prstGeom prst="roundRect">
            <a:avLst/>
          </a:prstGeom>
          <a:solidFill>
            <a:srgbClr val="E2F0D9"/>
          </a:solidFill>
        </p:spPr>
        <p:txBody>
          <a:bodyPr wrap="square">
            <a:spAutoFit/>
          </a:bodyPr>
          <a:lstStyle/>
          <a:p>
            <a:r>
              <a:rPr lang="zh-CN" altLang="en-US" sz="16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关键发现</a:t>
            </a:r>
            <a:r>
              <a:rPr lang="en-US" altLang="zh-CN" sz="16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" altLang="zh-CN" sz="160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DLKcat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在热力学不对称性上表现最优，平均</a:t>
            </a:r>
            <a:r>
              <a:rPr lang="en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ASI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达到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0.917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（对应于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~8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倍的</a:t>
            </a:r>
            <a:r>
              <a:rPr lang="en" altLang="zh-CN" sz="160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kcat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差异），仅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8.5%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的反应对错误地呈现对称性，这表明</a:t>
            </a:r>
            <a:r>
              <a:rPr lang="en" altLang="zh-CN" sz="160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DLKcat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能够正确捕捉反应方向性和热力学驱动力。相反，</a:t>
            </a:r>
            <a:r>
              <a:rPr lang="en" altLang="zh-CN" sz="160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TurNup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有高达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61.7%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的反应对预测值几乎相同（</a:t>
            </a:r>
            <a:r>
              <a:rPr lang="en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ASI &lt; 0.1</a:t>
            </a:r>
            <a:r>
              <a:rPr lang="zh-CN" altLang="e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平均</a:t>
            </a:r>
            <a:r>
              <a:rPr lang="en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ASI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仅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0.099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，这严重违背了热力学基本原理。</a:t>
            </a:r>
            <a:r>
              <a:rPr lang="en" altLang="zh-CN" sz="160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TurNup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MTLKP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可能将</a:t>
            </a:r>
            <a:r>
              <a:rPr lang="en" altLang="zh-CN" sz="160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kcat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属性绑定在反应类型或</a:t>
            </a:r>
            <a:r>
              <a:rPr lang="en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EC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编号上，而忽略了反应方向，这在代谢流计算中可能导致严重的热力学不一致性错误。</a:t>
            </a:r>
            <a:endParaRPr lang="zh-CN" alt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29207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881E-7EB4-FFC5-F7AB-A6D626EE6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67E8404-8081-7500-8FDD-75EB04675B65}"/>
              </a:ext>
            </a:extLst>
          </p:cNvPr>
          <p:cNvSpPr txBox="1"/>
          <p:nvPr/>
        </p:nvSpPr>
        <p:spPr>
          <a:xfrm>
            <a:off x="0" y="21039"/>
            <a:ext cx="12192000" cy="743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200" b="1" spc="100" dirty="0">
                <a:solidFill>
                  <a:srgbClr val="00206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同工酶特异性与序列分辨能力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4D1E33B7-2EAA-2645-9503-F0E1589E2F7D}"/>
              </a:ext>
            </a:extLst>
          </p:cNvPr>
          <p:cNvCxnSpPr>
            <a:cxnSpLocks/>
          </p:cNvCxnSpPr>
          <p:nvPr/>
        </p:nvCxnSpPr>
        <p:spPr>
          <a:xfrm>
            <a:off x="380618" y="764704"/>
            <a:ext cx="11404014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CDF672F0-7E98-B297-3BDC-07494E03B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814301"/>
            <a:ext cx="7772400" cy="463092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655A462-CC60-CCCF-4A70-E96EDC130EA7}"/>
              </a:ext>
            </a:extLst>
          </p:cNvPr>
          <p:cNvSpPr txBox="1"/>
          <p:nvPr/>
        </p:nvSpPr>
        <p:spPr>
          <a:xfrm>
            <a:off x="365760" y="5445224"/>
            <a:ext cx="11460480" cy="1328023"/>
          </a:xfrm>
          <a:prstGeom prst="roundRect">
            <a:avLst/>
          </a:prstGeom>
          <a:solidFill>
            <a:srgbClr val="E2F0D9"/>
          </a:solidFill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关键发现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" altLang="zh-CN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DLKcat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在同工酶区分上表现最优（平均</a:t>
            </a:r>
            <a:r>
              <a:rPr lang="en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CV = 0.648</a:t>
            </a:r>
            <a:r>
              <a:rPr lang="zh-CN" altLang="e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</a:t>
            </a:r>
            <a:r>
              <a:rPr lang="en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79.1%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的反应显示高特异性，证明其图神经网络架构能有效捕捉序列差异导致的活性变化。相比之下，</a:t>
            </a:r>
            <a:r>
              <a:rPr lang="en" altLang="zh-CN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TurNup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的平均</a:t>
            </a:r>
            <a:r>
              <a:rPr lang="en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CV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仅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0.322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，表明其预测可能过度依赖反应类型而对序列变异不够敏感。这一发现对于代谢工程中的酶选择具有实际意义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当需要区分同工酶时，</a:t>
            </a:r>
            <a:r>
              <a:rPr lang="en" altLang="zh-CN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DLKcat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" altLang="zh-CN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UniKP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更为适用。</a:t>
            </a:r>
            <a:endParaRPr lang="zh-CN" alt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07443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1DEAD-AACF-E99C-B4D5-AA26128E6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D993428-CD59-24A2-A4D4-3DDD80E61844}"/>
              </a:ext>
            </a:extLst>
          </p:cNvPr>
          <p:cNvSpPr txBox="1"/>
          <p:nvPr/>
        </p:nvSpPr>
        <p:spPr>
          <a:xfrm>
            <a:off x="0" y="21039"/>
            <a:ext cx="12192000" cy="743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200" b="1" spc="100" dirty="0">
                <a:solidFill>
                  <a:srgbClr val="00206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酶复合物处理能力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F6A1B9D-D9C5-6FB9-B12B-6DF5BC116B76}"/>
              </a:ext>
            </a:extLst>
          </p:cNvPr>
          <p:cNvCxnSpPr>
            <a:cxnSpLocks/>
          </p:cNvCxnSpPr>
          <p:nvPr/>
        </p:nvCxnSpPr>
        <p:spPr>
          <a:xfrm>
            <a:off x="380618" y="764704"/>
            <a:ext cx="11404014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79F572A-CD0B-7F05-C86F-7C822AD6B49F}"/>
              </a:ext>
            </a:extLst>
          </p:cNvPr>
          <p:cNvSpPr txBox="1"/>
          <p:nvPr/>
        </p:nvSpPr>
        <p:spPr>
          <a:xfrm>
            <a:off x="365760" y="5733256"/>
            <a:ext cx="11460480" cy="1021556"/>
          </a:xfrm>
          <a:prstGeom prst="roundRect">
            <a:avLst/>
          </a:prstGeom>
          <a:solidFill>
            <a:srgbClr val="E2F0D9"/>
          </a:solidFill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关键发现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" altLang="zh-CN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DLKcat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对酶复合物预测的</a:t>
            </a:r>
            <a:r>
              <a:rPr lang="en" altLang="zh-CN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kcat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值（均值 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28.4 </a:t>
            </a:r>
            <a:r>
              <a:rPr lang="en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" altLang="zh-CN" i="0" baseline="30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显著高于单亚基酶（均值 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5.8 </a:t>
            </a:r>
            <a:r>
              <a:rPr lang="en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" altLang="zh-CN" i="0" baseline="30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lang="zh-CN" altLang="e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差异达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4.9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倍。相比之下，</a:t>
            </a:r>
            <a:r>
              <a:rPr lang="en" altLang="zh-CN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UniKP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提供了最高的复合物覆盖率（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87.4%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）且差异较小（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1.6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倍），使其成为处理酶复合物的优选方法。</a:t>
            </a:r>
            <a:endParaRPr lang="zh-CN" alt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075EB14-F5A5-EA3C-E600-5B7F2F7DF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15" y="848949"/>
            <a:ext cx="11404014" cy="48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6628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7DE0-B1C4-5C07-335D-AF07ED1B1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8AF973C-813A-AE6C-C7D6-F206BC273937}"/>
              </a:ext>
            </a:extLst>
          </p:cNvPr>
          <p:cNvSpPr txBox="1"/>
          <p:nvPr/>
        </p:nvSpPr>
        <p:spPr>
          <a:xfrm>
            <a:off x="0" y="21039"/>
            <a:ext cx="12192000" cy="743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200" b="1" spc="100" dirty="0">
                <a:solidFill>
                  <a:srgbClr val="00206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底物特异性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2354444-24A0-5B19-0F6F-AA1EE6E9A030}"/>
              </a:ext>
            </a:extLst>
          </p:cNvPr>
          <p:cNvCxnSpPr>
            <a:cxnSpLocks/>
          </p:cNvCxnSpPr>
          <p:nvPr/>
        </p:nvCxnSpPr>
        <p:spPr>
          <a:xfrm>
            <a:off x="380618" y="764704"/>
            <a:ext cx="11404014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0449AE0-7FFA-8283-D981-98E8330CC324}"/>
              </a:ext>
            </a:extLst>
          </p:cNvPr>
          <p:cNvSpPr txBox="1"/>
          <p:nvPr/>
        </p:nvSpPr>
        <p:spPr>
          <a:xfrm>
            <a:off x="365760" y="5445224"/>
            <a:ext cx="11460480" cy="1328023"/>
          </a:xfrm>
          <a:prstGeom prst="roundRect">
            <a:avLst/>
          </a:prstGeom>
          <a:solidFill>
            <a:srgbClr val="E2F0D9"/>
          </a:solidFill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关键发现</a:t>
            </a:r>
            <a:r>
              <a:rPr lang="en-US" altLang="zh-CN" b="1" dirty="0">
                <a:solidFill>
                  <a:srgbClr val="333333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" altLang="zh-CN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DLKcat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展现出最强的底物特异性（平均方差 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= 0.590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），而</a:t>
            </a:r>
            <a:r>
              <a:rPr lang="en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MTLKP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" altLang="zh-CN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TurNup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的方差接近于零，表明它们对同一酶的不同底物给出了几乎相同的</a:t>
            </a:r>
            <a:r>
              <a:rPr lang="en" altLang="zh-CN" i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" altLang="zh-CN" i="0" baseline="-25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cat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预测。这一发现与同工酶分析结果一致，进一步证明</a:t>
            </a:r>
            <a:r>
              <a:rPr lang="en" altLang="zh-CN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DLKcat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在捕捉序列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底物相互作用方面的优势。然而，需要注意的是，样本量较小（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15-16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个酶），结论需要更大规模数据的验证。</a:t>
            </a:r>
            <a:endParaRPr lang="zh-CN" alt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CCC1E2-7EF4-3B4F-7DC0-F259055B0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814301"/>
            <a:ext cx="7772400" cy="463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9505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B7C07-0E0B-7E38-C742-08B623CD3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7524454-CF1D-DA34-0BF5-3001F1D00062}"/>
              </a:ext>
            </a:extLst>
          </p:cNvPr>
          <p:cNvSpPr txBox="1"/>
          <p:nvPr/>
        </p:nvSpPr>
        <p:spPr>
          <a:xfrm>
            <a:off x="0" y="21039"/>
            <a:ext cx="12192000" cy="743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200" b="1" spc="100" dirty="0">
                <a:solidFill>
                  <a:srgbClr val="00206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覆盖范围与适用性域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62CA7FA5-CC5E-D97D-53B5-E0DBCC2A83D7}"/>
              </a:ext>
            </a:extLst>
          </p:cNvPr>
          <p:cNvCxnSpPr>
            <a:cxnSpLocks/>
          </p:cNvCxnSpPr>
          <p:nvPr/>
        </p:nvCxnSpPr>
        <p:spPr>
          <a:xfrm>
            <a:off x="380618" y="764704"/>
            <a:ext cx="11404014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A86E93C-BA51-0978-A4AD-FBD1AA3C3A25}"/>
              </a:ext>
            </a:extLst>
          </p:cNvPr>
          <p:cNvSpPr txBox="1"/>
          <p:nvPr/>
        </p:nvSpPr>
        <p:spPr>
          <a:xfrm>
            <a:off x="365760" y="5445224"/>
            <a:ext cx="11460480" cy="1328023"/>
          </a:xfrm>
          <a:prstGeom prst="roundRect">
            <a:avLst/>
          </a:prstGeom>
          <a:solidFill>
            <a:srgbClr val="E2F0D9"/>
          </a:solidFill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关键发现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" altLang="zh-CN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UniKP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提供了最高的总体覆盖率（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43.1%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2,302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个反应），尤其在酶复合物方面表现突出（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87.4%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）。然而，所有方法对运输反应的覆盖率都极低（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&lt; 2.5%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），这是当前预测方法的共同短板。运输反应缺乏底物结构信息可能是主要原因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大多数运输蛋白的底物是无机离子或简单分子，缺乏复杂的化学指纹特征。这一空白需要开发专门针对运输蛋白的预测方法。</a:t>
            </a:r>
            <a:endParaRPr lang="zh-CN" alt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3EC3B8F-82E5-0D26-F4A8-9B1A8E860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66" y="908732"/>
            <a:ext cx="11226458" cy="452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43865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EBAE7-CD0E-1D71-8505-D07FCF571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F3A724F-28D5-7D02-82B1-948B582373BF}"/>
              </a:ext>
            </a:extLst>
          </p:cNvPr>
          <p:cNvSpPr txBox="1"/>
          <p:nvPr/>
        </p:nvSpPr>
        <p:spPr>
          <a:xfrm>
            <a:off x="0" y="21039"/>
            <a:ext cx="12192000" cy="743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200" b="1" spc="100" dirty="0">
                <a:solidFill>
                  <a:srgbClr val="00206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真值基准测试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2A7DA52-EBAC-55EB-73C2-F04196D39777}"/>
              </a:ext>
            </a:extLst>
          </p:cNvPr>
          <p:cNvCxnSpPr>
            <a:cxnSpLocks/>
          </p:cNvCxnSpPr>
          <p:nvPr/>
        </p:nvCxnSpPr>
        <p:spPr>
          <a:xfrm>
            <a:off x="380618" y="764704"/>
            <a:ext cx="11404014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6438C81-EBD4-1260-3A09-755D7A9FD118}"/>
              </a:ext>
            </a:extLst>
          </p:cNvPr>
          <p:cNvSpPr txBox="1"/>
          <p:nvPr/>
        </p:nvSpPr>
        <p:spPr>
          <a:xfrm>
            <a:off x="365760" y="5445224"/>
            <a:ext cx="11460480" cy="1328023"/>
          </a:xfrm>
          <a:prstGeom prst="roundRect">
            <a:avLst/>
          </a:prstGeom>
          <a:solidFill>
            <a:srgbClr val="E2F0D9"/>
          </a:solidFill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关键发现</a:t>
            </a:r>
            <a:r>
              <a:rPr lang="en-US" altLang="zh-CN" b="1" dirty="0">
                <a:solidFill>
                  <a:srgbClr val="333333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" altLang="zh-CN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TurNup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在真值基准测试中全面领先，</a:t>
            </a:r>
            <a:r>
              <a:rPr lang="en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RMSE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1.876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，对应于约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75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倍的典型预测误差（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i="0" baseline="30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1.876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≈ 75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）。其</a:t>
            </a:r>
            <a:r>
              <a:rPr lang="en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R²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值虽为负（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-0.144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），但这在</a:t>
            </a:r>
            <a:r>
              <a:rPr lang="en" altLang="zh-CN" i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" altLang="zh-CN" i="0" baseline="-25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cat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预测中并不罕见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en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R²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为负表明预测效果不如简单使用均值，反映了</a:t>
            </a:r>
            <a:r>
              <a:rPr lang="en" altLang="zh-CN" i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" altLang="zh-CN" i="0" baseline="-25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cat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预测的本质困难性。更重要的是，</a:t>
            </a:r>
            <a:r>
              <a:rPr lang="en" altLang="zh-CN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TurNup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Spearman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相关系数达到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0.238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 &lt; 10</a:t>
            </a:r>
            <a:r>
              <a:rPr lang="en" altLang="zh-CN" i="0" baseline="30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-10</a:t>
            </a:r>
            <a:r>
              <a:rPr lang="zh-CN" altLang="e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表明其能够正确捕捉相对趋势。所有方法的负</a:t>
            </a:r>
            <a:r>
              <a:rPr lang="en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R²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值提醒我们，当前技术距离精确预测还有很大差距，在实际应用中应保持谨慎。</a:t>
            </a:r>
            <a:endParaRPr lang="zh-CN" alt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D27FEC-D2B2-7FB4-DB28-8F2976CCE3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17" r="32653"/>
          <a:stretch/>
        </p:blipFill>
        <p:spPr>
          <a:xfrm>
            <a:off x="1343472" y="872671"/>
            <a:ext cx="4752528" cy="45488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FD635DD-9EAD-9EC0-8646-955B13B179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327" t="2217" b="49438"/>
          <a:stretch/>
        </p:blipFill>
        <p:spPr>
          <a:xfrm>
            <a:off x="3647728" y="3166317"/>
            <a:ext cx="2376264" cy="22489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CA5233F-587A-A270-DF4F-EA08F63D92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327" t="52428"/>
          <a:stretch/>
        </p:blipFill>
        <p:spPr>
          <a:xfrm>
            <a:off x="6672064" y="1486920"/>
            <a:ext cx="3816424" cy="355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16073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827C8-9A52-7524-9541-203ED22E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6E4B69A-F1E1-4204-D91E-1A97C2CA23BB}"/>
              </a:ext>
            </a:extLst>
          </p:cNvPr>
          <p:cNvSpPr txBox="1"/>
          <p:nvPr/>
        </p:nvSpPr>
        <p:spPr>
          <a:xfrm>
            <a:off x="0" y="21039"/>
            <a:ext cx="12192000" cy="743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200" b="1" spc="100" dirty="0">
                <a:solidFill>
                  <a:srgbClr val="00206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系统偏差检测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D0374CF-DA02-6AF5-6623-471EB99D27AF}"/>
              </a:ext>
            </a:extLst>
          </p:cNvPr>
          <p:cNvCxnSpPr>
            <a:cxnSpLocks/>
          </p:cNvCxnSpPr>
          <p:nvPr/>
        </p:nvCxnSpPr>
        <p:spPr>
          <a:xfrm>
            <a:off x="380618" y="764704"/>
            <a:ext cx="11404014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9D71870-1364-A030-9E80-C9CC3373FF9D}"/>
              </a:ext>
            </a:extLst>
          </p:cNvPr>
          <p:cNvSpPr txBox="1"/>
          <p:nvPr/>
        </p:nvSpPr>
        <p:spPr>
          <a:xfrm>
            <a:off x="7968208" y="1414032"/>
            <a:ext cx="3916670" cy="4315897"/>
          </a:xfrm>
          <a:prstGeom prst="roundRect">
            <a:avLst/>
          </a:prstGeom>
          <a:solidFill>
            <a:srgbClr val="E2F0D9"/>
          </a:solidFill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关键发现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所有方法均表现出显著的系统性低估偏差。</a:t>
            </a:r>
            <a:r>
              <a:rPr lang="en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MTLKP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的平均偏差最大（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-1.394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），对应于约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25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倍的低估（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i="0" baseline="300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-1.394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≈ 0.04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）。即使是表现最好的</a:t>
            </a:r>
            <a:r>
              <a:rPr lang="en" altLang="zh-CN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TurNup</a:t>
            </a:r>
            <a:r>
              <a:rPr lang="zh-CN" altLang="e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平均偏差也达到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-0.732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，对应于约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5.4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倍的低估。更严重的是，所有方法都显示出强烈的与真值相关的系统性趋势（趋势相关系数 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&lt; -0.89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），意味着真实</a:t>
            </a:r>
            <a:r>
              <a:rPr lang="en" altLang="zh-CN" i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" altLang="zh-CN" i="0" baseline="-2500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cat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越大，低估程度越严重。这一发现对</a:t>
            </a:r>
            <a:r>
              <a:rPr lang="en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GEMs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应用有重要警示：直接使用预测值可能导致通量估计偏低，建议使用偏差校正或仅用于相对比较。</a:t>
            </a:r>
            <a:endParaRPr lang="zh-CN" alt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Picture 1" descr="09_bias_detection.png">
            <a:extLst>
              <a:ext uri="{FF2B5EF4-FFF2-40B4-BE49-F238E27FC236}">
                <a16:creationId xmlns:a16="http://schemas.microsoft.com/office/drawing/2014/main" id="{561DE03F-E0D0-C847-A9D4-4E8B45319A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02"/>
          <a:stretch/>
        </p:blipFill>
        <p:spPr>
          <a:xfrm>
            <a:off x="276437" y="944363"/>
            <a:ext cx="7735022" cy="514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2725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7D95B-F1B5-AD7E-CF48-359630979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39107B8-1A97-C473-ECBE-77666D5183C7}"/>
              </a:ext>
            </a:extLst>
          </p:cNvPr>
          <p:cNvSpPr txBox="1"/>
          <p:nvPr/>
        </p:nvSpPr>
        <p:spPr>
          <a:xfrm>
            <a:off x="0" y="21039"/>
            <a:ext cx="12192000" cy="743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200" b="1" spc="100" dirty="0">
                <a:solidFill>
                  <a:srgbClr val="00206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总结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3F8C35A5-F8C1-418F-7C59-81B1F9A318EC}"/>
              </a:ext>
            </a:extLst>
          </p:cNvPr>
          <p:cNvCxnSpPr>
            <a:cxnSpLocks/>
          </p:cNvCxnSpPr>
          <p:nvPr/>
        </p:nvCxnSpPr>
        <p:spPr>
          <a:xfrm>
            <a:off x="380618" y="764704"/>
            <a:ext cx="11404014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表, 雷达图&#10;&#10;AI 生成的内容可能不正确。">
            <a:extLst>
              <a:ext uri="{FF2B5EF4-FFF2-40B4-BE49-F238E27FC236}">
                <a16:creationId xmlns:a16="http://schemas.microsoft.com/office/drawing/2014/main" id="{7220F990-756D-8E33-B5D5-90C9E9764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1508551"/>
            <a:ext cx="5122287" cy="403243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EE74396-F8A9-46D4-5C8D-5C10EDB6E742}"/>
              </a:ext>
            </a:extLst>
          </p:cNvPr>
          <p:cNvSpPr txBox="1"/>
          <p:nvPr/>
        </p:nvSpPr>
        <p:spPr>
          <a:xfrm>
            <a:off x="5313631" y="1291982"/>
            <a:ext cx="6508159" cy="4801314"/>
          </a:xfrm>
          <a:prstGeom prst="roundRect">
            <a:avLst/>
          </a:prstGeom>
          <a:solidFill>
            <a:srgbClr val="E2F0D9"/>
          </a:solidFill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热力学正确性是首要标准：</a:t>
            </a:r>
            <a:r>
              <a:rPr lang="en" altLang="zh-CN" sz="160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DLKcat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是唯一能正确区分正反向反应的方法（</a:t>
            </a:r>
            <a:r>
              <a:rPr lang="en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ASI = 0.917</a:t>
            </a:r>
            <a:r>
              <a:rPr lang="zh-CN" altLang="e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仅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8.5%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错误对称），尽管其</a:t>
            </a:r>
            <a:r>
              <a:rPr lang="en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RMSE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较高（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2.476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），但在可逆反应模拟中热力学正确性远比数值精度重要。</a:t>
            </a:r>
            <a:r>
              <a:rPr lang="en" altLang="zh-CN" sz="160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TurNup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MTLKP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严重违背</a:t>
            </a:r>
            <a:r>
              <a:rPr lang="en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Haldane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关系（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61.7%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50.0%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错误对称），不适用于代谢通量分析。</a:t>
            </a:r>
          </a:p>
          <a:p>
            <a:pPr marL="342900" indent="-342900">
              <a:buFont typeface="+mj-lt"/>
              <a:buAutoNum type="arabicPeriod"/>
            </a:pPr>
            <a:r>
              <a:rPr lang="en" altLang="zh-CN" sz="1600" b="1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TurNup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在单向反应中表现最优：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真值基准测试</a:t>
            </a:r>
            <a:r>
              <a:rPr lang="en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RMSE = 1.876</a:t>
            </a:r>
            <a:r>
              <a:rPr lang="zh-CN" altLang="e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但仅限于不可逆反应或方向性不重要的场景。覆盖率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42.1%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342900" indent="-342900">
              <a:buFont typeface="+mj-lt"/>
              <a:buAutoNum type="arabicPeriod"/>
            </a:pPr>
            <a:r>
              <a:rPr lang="en" altLang="zh-CN" sz="1600" b="1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UniKP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覆盖率最高：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总体覆盖率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43.1%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，酶复合物覆盖率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87.4%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，热力学方向性表现中等（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22.7%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错误对称），适合用于大规模参数填充。</a:t>
            </a:r>
          </a:p>
          <a:p>
            <a:pPr marL="342900" indent="-342900">
              <a:buFont typeface="+mj-lt"/>
              <a:buAutoNum type="arabicPeriod"/>
            </a:pPr>
            <a:r>
              <a:rPr lang="en" altLang="zh-CN" sz="1600" b="1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DLKcat</a:t>
            </a:r>
            <a:r>
              <a:rPr lang="zh-CN" altLang="en-US" sz="16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序列敏感性与方向性识别最强：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在同工酶区分（</a:t>
            </a:r>
            <a:r>
              <a:rPr lang="en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CV = 0.648</a:t>
            </a:r>
            <a:r>
              <a:rPr lang="zh-CN" altLang="e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）、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底物特异性（方差 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= 0.590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）和热力学不对称性上全面领先，但对酶复合物存在系统性高估，</a:t>
            </a:r>
            <a:r>
              <a:rPr lang="en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RMSE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较高。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系统性低估普遍存在：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所有方法均表现出显著的低估偏差（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-0.732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至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-1.394</a:t>
            </a:r>
            <a:r>
              <a:rPr lang="zh-CN" altLang="e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建议优先使用相对值而非绝对值。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运输反应覆盖严重不足：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所有方法对运输反应的覆盖率均 </a:t>
            </a:r>
            <a:r>
              <a:rPr lang="en-US" altLang="zh-CN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&lt; 2.5%</a:t>
            </a:r>
            <a:r>
              <a:rPr lang="zh-CN" altLang="en-US" sz="16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，是当前技术的主要瓶颈。</a:t>
            </a:r>
            <a:endParaRPr lang="zh-CN" alt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97351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FC619-10BC-9871-8929-A9065A8D3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C20F03C-AC4F-4C1D-8DD2-48D6DD64063C}"/>
              </a:ext>
            </a:extLst>
          </p:cNvPr>
          <p:cNvSpPr txBox="1"/>
          <p:nvPr/>
        </p:nvSpPr>
        <p:spPr>
          <a:xfrm>
            <a:off x="0" y="21039"/>
            <a:ext cx="12192000" cy="743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200" b="1" spc="100" dirty="0">
                <a:solidFill>
                  <a:srgbClr val="00206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使用指南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56F4CB6-A89A-CD60-B734-7FE10E2DE3A5}"/>
              </a:ext>
            </a:extLst>
          </p:cNvPr>
          <p:cNvCxnSpPr>
            <a:cxnSpLocks/>
          </p:cNvCxnSpPr>
          <p:nvPr/>
        </p:nvCxnSpPr>
        <p:spPr>
          <a:xfrm>
            <a:off x="380618" y="764704"/>
            <a:ext cx="11404014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C9A6B70-ED2D-3D93-758C-0DDDD4DC44D8}"/>
              </a:ext>
            </a:extLst>
          </p:cNvPr>
          <p:cNvSpPr txBox="1"/>
          <p:nvPr/>
        </p:nvSpPr>
        <p:spPr>
          <a:xfrm>
            <a:off x="415763" y="1570765"/>
            <a:ext cx="11404014" cy="3484305"/>
          </a:xfrm>
          <a:prstGeom prst="roundRect">
            <a:avLst>
              <a:gd name="adj" fmla="val 10584"/>
            </a:avLst>
          </a:prstGeom>
          <a:solidFill>
            <a:srgbClr val="CCD7F2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分层策略构建</a:t>
            </a:r>
            <a:r>
              <a:rPr lang="en" altLang="zh-CN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GEMs</a:t>
            </a:r>
            <a:r>
              <a:rPr lang="zh-CN" altLang="en-US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" altLang="zh-CN" sz="2400" b="1" i="1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en" altLang="zh-CN" sz="2400" b="1" baseline="-25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cat</a:t>
            </a:r>
            <a:r>
              <a:rPr lang="zh-CN" altLang="en-US" sz="24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参数集：</a:t>
            </a:r>
          </a:p>
          <a:p>
            <a:pPr marL="342900" indent="-342900">
              <a:buFont typeface="+mj-lt"/>
              <a:buAutoNum type="arabicPeriod"/>
            </a:pPr>
            <a:r>
              <a:rPr lang="en" altLang="zh-CN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Layer 1</a:t>
            </a:r>
            <a:r>
              <a:rPr lang="zh-CN" altLang="en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优先级最高）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：使用经质量控制的实验测定值（来自</a:t>
            </a:r>
            <a:r>
              <a:rPr lang="en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BRENDA</a:t>
            </a:r>
            <a:r>
              <a:rPr lang="zh-CN" altLang="e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SABIO-RK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等数据库）</a:t>
            </a:r>
          </a:p>
          <a:p>
            <a:pPr marL="342900" indent="-342900">
              <a:buFont typeface="+mj-lt"/>
              <a:buAutoNum type="arabicPeriod"/>
            </a:pPr>
            <a:r>
              <a:rPr lang="en" altLang="zh-CN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Layer 2</a:t>
            </a:r>
            <a:r>
              <a:rPr lang="zh-CN" altLang="en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可逆反应，热力学关键）：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对于重要的可逆代谢反应，必须使用</a:t>
            </a:r>
            <a:r>
              <a:rPr lang="en" altLang="zh-CN" sz="2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DLKcat</a:t>
            </a:r>
            <a:r>
              <a:rPr lang="zh-CN" altLang="e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唯一能正确区分正反向的方法，</a:t>
            </a:r>
            <a:r>
              <a:rPr lang="en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ASI = 0.917</a:t>
            </a:r>
            <a:r>
              <a:rPr lang="zh-CN" altLang="e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），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尽管其</a:t>
            </a:r>
            <a:r>
              <a:rPr lang="en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RMSE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较高，但热力学正确性更为关键</a:t>
            </a:r>
          </a:p>
          <a:p>
            <a:pPr marL="342900" indent="-342900">
              <a:buFont typeface="+mj-lt"/>
              <a:buAutoNum type="arabicPeriod"/>
            </a:pPr>
            <a:r>
              <a:rPr lang="en" altLang="zh-CN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Layer 3</a:t>
            </a:r>
            <a:r>
              <a:rPr lang="zh-CN" altLang="en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单向反应）：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对于生理上不可逆的反应或方向性不重要的场景，使用</a:t>
            </a:r>
            <a:r>
              <a:rPr lang="en" altLang="zh-CN" sz="2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TurNup</a:t>
            </a:r>
            <a:r>
              <a:rPr lang="zh-CN" altLang="e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RMSE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最低）</a:t>
            </a:r>
          </a:p>
          <a:p>
            <a:pPr marL="342900" indent="-342900">
              <a:buFont typeface="+mj-lt"/>
              <a:buAutoNum type="arabicPeriod"/>
            </a:pPr>
            <a:r>
              <a:rPr lang="en" altLang="zh-CN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Layer 4</a:t>
            </a:r>
            <a:r>
              <a:rPr lang="zh-CN" altLang="en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酶复合物）：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对于多亚基复合物，使用</a:t>
            </a:r>
            <a:r>
              <a:rPr lang="en" altLang="zh-CN" sz="2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UniKP</a:t>
            </a:r>
            <a:r>
              <a:rPr lang="zh-CN" altLang="e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覆盖率</a:t>
            </a:r>
            <a:r>
              <a:rPr lang="en-US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87.4%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，系统性差异最小）</a:t>
            </a:r>
          </a:p>
          <a:p>
            <a:pPr marL="342900" indent="-342900">
              <a:buFont typeface="+mj-lt"/>
              <a:buAutoNum type="arabicPeriod"/>
            </a:pPr>
            <a:r>
              <a:rPr lang="en" altLang="zh-CN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Layer 5</a:t>
            </a:r>
            <a:r>
              <a:rPr lang="zh-CN" altLang="en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同工酶区分）：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当需要区分同工酶时，使用</a:t>
            </a:r>
            <a:r>
              <a:rPr lang="en" altLang="zh-CN" sz="2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DLKcat</a:t>
            </a:r>
            <a:r>
              <a:rPr lang="zh-CN" altLang="e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" altLang="zh-C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CV = 0.648</a:t>
            </a:r>
            <a:r>
              <a:rPr lang="zh-CN" altLang="en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序列敏感性最强）</a:t>
            </a:r>
          </a:p>
          <a:p>
            <a:pPr marL="342900" indent="-342900">
              <a:buFont typeface="+mj-lt"/>
              <a:buAutoNum type="arabicPeriod"/>
            </a:pPr>
            <a:r>
              <a:rPr lang="en" altLang="zh-CN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Layer 6</a:t>
            </a:r>
            <a:r>
              <a:rPr lang="zh-CN" altLang="en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剩余空缺）：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对于所有方法都有预测的反应，可考虑使用</a:t>
            </a:r>
            <a:r>
              <a:rPr lang="en" altLang="zh-CN" sz="2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DLKcat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" altLang="zh-CN" sz="2000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UniKP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的几何平均</a:t>
            </a:r>
          </a:p>
          <a:p>
            <a:pPr marL="342900" indent="-342900">
              <a:buFont typeface="+mj-lt"/>
              <a:buAutoNum type="arabicPeriod"/>
            </a:pPr>
            <a:r>
              <a:rPr lang="en" altLang="zh-CN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Layer 7</a:t>
            </a:r>
            <a:r>
              <a:rPr lang="zh-CN" altLang="en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运输反应）：</a:t>
            </a:r>
            <a:r>
              <a:rPr lang="zh-CN" altLang="en-US" sz="2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目前建议使用文献值或保守估计（如采用该类运输蛋白的中位数）</a:t>
            </a:r>
          </a:p>
        </p:txBody>
      </p:sp>
    </p:spTree>
    <p:extLst>
      <p:ext uri="{BB962C8B-B14F-4D97-AF65-F5344CB8AC3E}">
        <p14:creationId xmlns:p14="http://schemas.microsoft.com/office/powerpoint/2010/main" val="284302505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}"/>
</p:tagLst>
</file>

<file path=ppt/theme/theme1.xml><?xml version="1.0" encoding="utf-8"?>
<a:theme xmlns:a="http://schemas.openxmlformats.org/drawingml/2006/main" name="37_母板">
  <a:themeElements>
    <a:clrScheme name="36_母板 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286A5"/>
      </a:accent1>
      <a:accent2>
        <a:srgbClr val="DE5F0F"/>
      </a:accent2>
      <a:accent3>
        <a:srgbClr val="EDAE1B"/>
      </a:accent3>
      <a:accent4>
        <a:srgbClr val="0F6079"/>
      </a:accent4>
      <a:accent5>
        <a:srgbClr val="00A3D5"/>
      </a:accent5>
      <a:accent6>
        <a:srgbClr val="0052CE"/>
      </a:accent6>
      <a:hlink>
        <a:srgbClr val="2286A5"/>
      </a:hlink>
      <a:folHlink>
        <a:srgbClr val="BFBFBF"/>
      </a:folHlink>
    </a:clrScheme>
    <a:fontScheme name="36_母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  <a:alpha val="50000"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  <a:alpha val="50000"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6_母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6_母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6_母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6_母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6_母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6_母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6_母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6_母板">
  <a:themeElements>
    <a:clrScheme name="36_母板 2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286A5"/>
      </a:accent1>
      <a:accent2>
        <a:srgbClr val="DE5F0F"/>
      </a:accent2>
      <a:accent3>
        <a:srgbClr val="EDAE1B"/>
      </a:accent3>
      <a:accent4>
        <a:srgbClr val="0F6079"/>
      </a:accent4>
      <a:accent5>
        <a:srgbClr val="00A3D5"/>
      </a:accent5>
      <a:accent6>
        <a:srgbClr val="0052CE"/>
      </a:accent6>
      <a:hlink>
        <a:srgbClr val="2286A5"/>
      </a:hlink>
      <a:folHlink>
        <a:srgbClr val="BFBFBF"/>
      </a:folHlink>
    </a:clrScheme>
    <a:fontScheme name="36_母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  <a:alpha val="50000"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  <a:alpha val="50000"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6_母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6_母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6_母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6_母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6_母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6_母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6_母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15404</TotalTime>
  <Words>1876</Words>
  <Application>Microsoft Macintosh PowerPoint</Application>
  <PresentationFormat>宽屏</PresentationFormat>
  <Paragraphs>103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Microsoft YaHei</vt:lpstr>
      <vt:lpstr>Microsoft YaHei</vt:lpstr>
      <vt:lpstr>Noto Sans SC</vt:lpstr>
      <vt:lpstr>Arial</vt:lpstr>
      <vt:lpstr>Times New Roman</vt:lpstr>
      <vt:lpstr>Wingdings</vt:lpstr>
      <vt:lpstr>37_母板</vt:lpstr>
      <vt:lpstr>36_母板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马文涛</dc:creator>
  <cp:lastModifiedBy>BIO MAO</cp:lastModifiedBy>
  <cp:revision>7047</cp:revision>
  <cp:lastPrinted>2023-06-18T21:13:56Z</cp:lastPrinted>
  <dcterms:created xsi:type="dcterms:W3CDTF">2113-01-01T00:00:00Z</dcterms:created>
  <dcterms:modified xsi:type="dcterms:W3CDTF">2026-01-26T05:20:24Z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2052-11.1.0.10463</vt:lpwstr>
  </property>
  <property fmtid="{D5CDD505-2E9C-101B-9397-08002B2CF9AE}" pid="4" name="ICV">
    <vt:lpwstr>4907CE8C43C94AA6BDEE41F41BC585D7</vt:lpwstr>
  </property>
</Properties>
</file>